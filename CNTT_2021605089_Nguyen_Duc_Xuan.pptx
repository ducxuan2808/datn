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866"/>
    <a:srgbClr val="20549D"/>
    <a:srgbClr val="FFF2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-3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9B427-3E73-4F6F-BF7E-0BB7027715C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1544E-5E33-4CA2-93A3-2D685DBD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8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9B427-3E73-4F6F-BF7E-0BB7027715C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1544E-5E33-4CA2-93A3-2D685DBD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9B427-3E73-4F6F-BF7E-0BB7027715C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1544E-5E33-4CA2-93A3-2D685DBD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27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9B427-3E73-4F6F-BF7E-0BB7027715C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1544E-5E33-4CA2-93A3-2D685DBD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0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9B427-3E73-4F6F-BF7E-0BB7027715C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1544E-5E33-4CA2-93A3-2D685DBD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9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9B427-3E73-4F6F-BF7E-0BB7027715C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1544E-5E33-4CA2-93A3-2D685DBD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68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9B427-3E73-4F6F-BF7E-0BB7027715C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1544E-5E33-4CA2-93A3-2D685DBD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04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9B427-3E73-4F6F-BF7E-0BB7027715C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1544E-5E33-4CA2-93A3-2D685DBD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7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9B427-3E73-4F6F-BF7E-0BB7027715C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1544E-5E33-4CA2-93A3-2D685DBD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20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9B427-3E73-4F6F-BF7E-0BB7027715C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1544E-5E33-4CA2-93A3-2D685DBD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0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9B427-3E73-4F6F-BF7E-0BB7027715C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1544E-5E33-4CA2-93A3-2D685DBD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8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9B427-3E73-4F6F-BF7E-0BB7027715C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1544E-5E33-4CA2-93A3-2D685DBD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33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60632"/>
            <a:ext cx="12428430" cy="175783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8F682A-417F-E08A-5CF7-AD2A97FB43AA}"/>
              </a:ext>
            </a:extLst>
          </p:cNvPr>
          <p:cNvSpPr/>
          <p:nvPr/>
        </p:nvSpPr>
        <p:spPr>
          <a:xfrm>
            <a:off x="0" y="-2560632"/>
            <a:ext cx="12428430" cy="2152070"/>
          </a:xfrm>
          <a:prstGeom prst="rect">
            <a:avLst/>
          </a:prstGeom>
          <a:solidFill>
            <a:srgbClr val="F98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>
              <a:solidFill>
                <a:srgbClr val="F98866"/>
              </a:solidFill>
            </a:endParaRPr>
          </a:p>
        </p:txBody>
      </p:sp>
      <p:pic>
        <p:nvPicPr>
          <p:cNvPr id="6" name="image1.png" descr="A yellow and red logo&#10;&#10;Description automatically generated">
            <a:extLst>
              <a:ext uri="{FF2B5EF4-FFF2-40B4-BE49-F238E27FC236}">
                <a16:creationId xmlns:a16="http://schemas.microsoft.com/office/drawing/2014/main" id="{9397773C-EF68-95E4-E421-DEC7961CEA2C}"/>
              </a:ext>
            </a:extLst>
          </p:cNvPr>
          <p:cNvPicPr/>
          <p:nvPr/>
        </p:nvPicPr>
        <p:blipFill>
          <a:blip r:embed="rId3"/>
          <a:srcRect l="1635" t="1016" r="1067" b="1"/>
          <a:stretch/>
        </p:blipFill>
        <p:spPr>
          <a:xfrm>
            <a:off x="188774" y="-2331196"/>
            <a:ext cx="1606805" cy="1609344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7E5507-5A50-8DC6-EAAF-364D530F1D0F}"/>
              </a:ext>
            </a:extLst>
          </p:cNvPr>
          <p:cNvSpPr txBox="1"/>
          <p:nvPr/>
        </p:nvSpPr>
        <p:spPr>
          <a:xfrm>
            <a:off x="4507197" y="-2399221"/>
            <a:ext cx="4406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rgbClr val="FFF2D7"/>
                </a:solidFill>
              </a:rPr>
              <a:t>ĐẠI HỌC CÔNG NGHIỆP HÀ NỘI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9F7F12-6AE5-DD58-CE41-BDDDDDD073B2}"/>
              </a:ext>
            </a:extLst>
          </p:cNvPr>
          <p:cNvSpPr txBox="1"/>
          <p:nvPr/>
        </p:nvSpPr>
        <p:spPr>
          <a:xfrm>
            <a:off x="3210139" y="-1999111"/>
            <a:ext cx="700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b="1" dirty="0">
                <a:solidFill>
                  <a:srgbClr val="FFF2D7"/>
                </a:solidFill>
              </a:rPr>
              <a:t>TRƯỜNG CÔNG NGHỆ THÔNG TIN VÀ TRUYỀN THÔNG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ADB90F-0788-073C-B1E8-E1BEE723F51C}"/>
              </a:ext>
            </a:extLst>
          </p:cNvPr>
          <p:cNvSpPr txBox="1"/>
          <p:nvPr/>
        </p:nvSpPr>
        <p:spPr>
          <a:xfrm>
            <a:off x="1719072" y="-1462135"/>
            <a:ext cx="10542781" cy="45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0510" marR="211455" algn="ctr">
              <a:lnSpc>
                <a:spcPct val="130000"/>
              </a:lnSpc>
              <a:buNone/>
            </a:pPr>
            <a:r>
              <a:rPr lang="vi-VN" sz="2000" b="1" dirty="0">
                <a:solidFill>
                  <a:srgbClr val="FFF2D7"/>
                </a:solidFill>
                <a:effectLst/>
                <a:latin typeface="Arial (Body)"/>
                <a:ea typeface="Times New Roman" panose="02020603050405020304" pitchFamily="18" charset="0"/>
              </a:rPr>
              <a:t>ĐỀ TÀI: XÂY DỰNG WEBSITE QUẢN LÝ VÀ ĐẶT PIZZA CHO CỬA HÀNG PIZZING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A2E1DF-0268-0F7E-9BC7-45B496A87B72}"/>
              </a:ext>
            </a:extLst>
          </p:cNvPr>
          <p:cNvSpPr txBox="1"/>
          <p:nvPr/>
        </p:nvSpPr>
        <p:spPr>
          <a:xfrm>
            <a:off x="2521466" y="-891129"/>
            <a:ext cx="3574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600" b="1" dirty="0">
                <a:solidFill>
                  <a:srgbClr val="FFF2D7"/>
                </a:solidFill>
              </a:rPr>
              <a:t>Sinh viên: Nguyễn Đức Xuân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629F11-63FE-21DA-C9A6-B1151B021148}"/>
              </a:ext>
            </a:extLst>
          </p:cNvPr>
          <p:cNvSpPr txBox="1"/>
          <p:nvPr/>
        </p:nvSpPr>
        <p:spPr>
          <a:xfrm>
            <a:off x="7126145" y="-891129"/>
            <a:ext cx="3574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600" b="1" dirty="0">
                <a:solidFill>
                  <a:srgbClr val="FFF2D7"/>
                </a:solidFill>
              </a:rPr>
              <a:t>GVHD: TS. Phạm Văn Hiệp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406EF3-98BA-07A3-A6B5-7B98A245DCEC}"/>
              </a:ext>
            </a:extLst>
          </p:cNvPr>
          <p:cNvCxnSpPr/>
          <p:nvPr/>
        </p:nvCxnSpPr>
        <p:spPr>
          <a:xfrm>
            <a:off x="3210139" y="-1610323"/>
            <a:ext cx="7000329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036194D-C4C7-0AB3-894C-1AA0857AE7EC}"/>
              </a:ext>
            </a:extLst>
          </p:cNvPr>
          <p:cNvSpPr/>
          <p:nvPr/>
        </p:nvSpPr>
        <p:spPr>
          <a:xfrm>
            <a:off x="0" y="-408563"/>
            <a:ext cx="12428430" cy="15205907"/>
          </a:xfrm>
          <a:prstGeom prst="rect">
            <a:avLst/>
          </a:prstGeom>
          <a:solidFill>
            <a:srgbClr val="FFF2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BD7245-ACAE-279D-2A43-82BB95C5F6B7}"/>
              </a:ext>
            </a:extLst>
          </p:cNvPr>
          <p:cNvSpPr/>
          <p:nvPr/>
        </p:nvSpPr>
        <p:spPr>
          <a:xfrm>
            <a:off x="500510" y="87572"/>
            <a:ext cx="11425678" cy="3235569"/>
          </a:xfrm>
          <a:prstGeom prst="roundRect">
            <a:avLst/>
          </a:prstGeom>
          <a:solidFill>
            <a:srgbClr val="F98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57B7CB-0A26-3A81-6681-F9E93F047ADD}"/>
              </a:ext>
            </a:extLst>
          </p:cNvPr>
          <p:cNvSpPr/>
          <p:nvPr/>
        </p:nvSpPr>
        <p:spPr>
          <a:xfrm>
            <a:off x="5391303" y="4085663"/>
            <a:ext cx="6534885" cy="3558054"/>
          </a:xfrm>
          <a:prstGeom prst="roundRect">
            <a:avLst/>
          </a:prstGeom>
          <a:solidFill>
            <a:srgbClr val="F98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CE63B1-F0B8-07DF-6CCB-097AA5CB19A3}"/>
              </a:ext>
            </a:extLst>
          </p:cNvPr>
          <p:cNvSpPr/>
          <p:nvPr/>
        </p:nvSpPr>
        <p:spPr>
          <a:xfrm>
            <a:off x="500510" y="5501279"/>
            <a:ext cx="4530094" cy="2142438"/>
          </a:xfrm>
          <a:prstGeom prst="roundRect">
            <a:avLst/>
          </a:prstGeom>
          <a:solidFill>
            <a:srgbClr val="F98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0389DF-9A9D-CBC7-BC3D-4F26F9C0992D}"/>
              </a:ext>
            </a:extLst>
          </p:cNvPr>
          <p:cNvSpPr/>
          <p:nvPr/>
        </p:nvSpPr>
        <p:spPr>
          <a:xfrm>
            <a:off x="490231" y="8020284"/>
            <a:ext cx="6103401" cy="3245967"/>
          </a:xfrm>
          <a:prstGeom prst="roundRect">
            <a:avLst/>
          </a:prstGeom>
          <a:solidFill>
            <a:srgbClr val="F98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4C2FC6-F9AC-35A2-DE9A-2840F4904F42}"/>
              </a:ext>
            </a:extLst>
          </p:cNvPr>
          <p:cNvSpPr txBox="1"/>
          <p:nvPr/>
        </p:nvSpPr>
        <p:spPr>
          <a:xfrm>
            <a:off x="654868" y="97544"/>
            <a:ext cx="492443" cy="312865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vi-VN" sz="2000" b="1" dirty="0">
                <a:solidFill>
                  <a:srgbClr val="FFF2D7"/>
                </a:solidFill>
              </a:rPr>
              <a:t>CHỨC NĂNG CHÍNH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3D4D102-7D11-5B9B-B919-B0B26DBC0A99}"/>
              </a:ext>
            </a:extLst>
          </p:cNvPr>
          <p:cNvCxnSpPr>
            <a:cxnSpLocks/>
          </p:cNvCxnSpPr>
          <p:nvPr/>
        </p:nvCxnSpPr>
        <p:spPr>
          <a:xfrm>
            <a:off x="1086351" y="87572"/>
            <a:ext cx="0" cy="3235569"/>
          </a:xfrm>
          <a:prstGeom prst="line">
            <a:avLst/>
          </a:prstGeom>
          <a:ln w="19050">
            <a:solidFill>
              <a:srgbClr val="FFF2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852BA7F-9C55-CC62-FBEF-AEFBAA0A021E}"/>
              </a:ext>
            </a:extLst>
          </p:cNvPr>
          <p:cNvSpPr txBox="1"/>
          <p:nvPr/>
        </p:nvSpPr>
        <p:spPr>
          <a:xfrm>
            <a:off x="1858722" y="241062"/>
            <a:ext cx="1815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rgbClr val="FFF2D7"/>
                </a:solidFill>
              </a:rPr>
              <a:t>Người dùng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0C66DD-1F24-3E70-237C-7BB0ED9E0892}"/>
              </a:ext>
            </a:extLst>
          </p:cNvPr>
          <p:cNvSpPr txBox="1"/>
          <p:nvPr/>
        </p:nvSpPr>
        <p:spPr>
          <a:xfrm>
            <a:off x="5119242" y="234781"/>
            <a:ext cx="2689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rgbClr val="FFF2D7"/>
                </a:solidFill>
              </a:rPr>
              <a:t>Nhân viên bán hàng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19BA23-16AE-E036-A2F1-DE1D08016A4A}"/>
              </a:ext>
            </a:extLst>
          </p:cNvPr>
          <p:cNvSpPr txBox="1"/>
          <p:nvPr/>
        </p:nvSpPr>
        <p:spPr>
          <a:xfrm>
            <a:off x="8698499" y="245325"/>
            <a:ext cx="18253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rgbClr val="FFF2D7"/>
                </a:solidFill>
              </a:rPr>
              <a:t>Quản trị viên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F7F56A-FE46-DE36-5FD4-C7C1FFF9DD6F}"/>
              </a:ext>
            </a:extLst>
          </p:cNvPr>
          <p:cNvCxnSpPr/>
          <p:nvPr/>
        </p:nvCxnSpPr>
        <p:spPr>
          <a:xfrm>
            <a:off x="4811054" y="419447"/>
            <a:ext cx="0" cy="2628900"/>
          </a:xfrm>
          <a:prstGeom prst="line">
            <a:avLst/>
          </a:prstGeom>
          <a:ln w="19050">
            <a:solidFill>
              <a:srgbClr val="FFF2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BB2739-2F64-6547-802C-94CC2C6A70D4}"/>
              </a:ext>
            </a:extLst>
          </p:cNvPr>
          <p:cNvCxnSpPr/>
          <p:nvPr/>
        </p:nvCxnSpPr>
        <p:spPr>
          <a:xfrm>
            <a:off x="8297237" y="409088"/>
            <a:ext cx="0" cy="2628900"/>
          </a:xfrm>
          <a:prstGeom prst="line">
            <a:avLst/>
          </a:prstGeom>
          <a:ln w="19050">
            <a:solidFill>
              <a:srgbClr val="FFF2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D0B05AC-EB91-5B12-157C-83B9788C72E1}"/>
              </a:ext>
            </a:extLst>
          </p:cNvPr>
          <p:cNvSpPr txBox="1"/>
          <p:nvPr/>
        </p:nvSpPr>
        <p:spPr>
          <a:xfrm>
            <a:off x="1517835" y="676301"/>
            <a:ext cx="2784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Mua hàng trực tuyến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7A2DB4-1278-AC9B-74D6-FC756311A913}"/>
              </a:ext>
            </a:extLst>
          </p:cNvPr>
          <p:cNvSpPr txBox="1"/>
          <p:nvPr/>
        </p:nvSpPr>
        <p:spPr>
          <a:xfrm>
            <a:off x="1517837" y="992538"/>
            <a:ext cx="3279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Tìm kiếm sản phẩm nhanh chóng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4CBAB7-74AB-82F1-615B-EC8E3AD56DF1}"/>
              </a:ext>
            </a:extLst>
          </p:cNvPr>
          <p:cNvSpPr txBox="1"/>
          <p:nvPr/>
        </p:nvSpPr>
        <p:spPr>
          <a:xfrm>
            <a:off x="1517837" y="1559348"/>
            <a:ext cx="2784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Theo dõi đơn hàng tiện lợi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EDF919-E165-AF81-D709-75219A19E230}"/>
              </a:ext>
            </a:extLst>
          </p:cNvPr>
          <p:cNvSpPr txBox="1"/>
          <p:nvPr/>
        </p:nvSpPr>
        <p:spPr>
          <a:xfrm>
            <a:off x="1517835" y="2659930"/>
            <a:ext cx="317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Đánh giá và chia sẻ trải nghiệm mua hàng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994383-4F30-8F1F-C224-97A2E3B50F11}"/>
              </a:ext>
            </a:extLst>
          </p:cNvPr>
          <p:cNvSpPr txBox="1"/>
          <p:nvPr/>
        </p:nvSpPr>
        <p:spPr>
          <a:xfrm>
            <a:off x="1508679" y="2115437"/>
            <a:ext cx="2784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Chiết khấu theo hạng hội viên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4CB8BC-6223-D1D7-C81B-DDE7EF96F7E7}"/>
              </a:ext>
            </a:extLst>
          </p:cNvPr>
          <p:cNvSpPr txBox="1"/>
          <p:nvPr/>
        </p:nvSpPr>
        <p:spPr>
          <a:xfrm>
            <a:off x="5076829" y="661393"/>
            <a:ext cx="2912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Điều phối đơn hàng tại cửa hàng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2F358B-8CB8-F392-B34B-5BC74F80C318}"/>
              </a:ext>
            </a:extLst>
          </p:cNvPr>
          <p:cNvSpPr txBox="1"/>
          <p:nvPr/>
        </p:nvSpPr>
        <p:spPr>
          <a:xfrm>
            <a:off x="5069209" y="1213531"/>
            <a:ext cx="29198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Quản lý thành viên của của hàng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7113D1-141E-E074-EB4D-1DE432FFF767}"/>
              </a:ext>
            </a:extLst>
          </p:cNvPr>
          <p:cNvSpPr txBox="1"/>
          <p:nvPr/>
        </p:nvSpPr>
        <p:spPr>
          <a:xfrm>
            <a:off x="8550679" y="659592"/>
            <a:ext cx="2784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Quản lý sản phẩm, các phân loại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5AC8EE-E417-A2D8-09E5-870FBF31B84B}"/>
              </a:ext>
            </a:extLst>
          </p:cNvPr>
          <p:cNvSpPr txBox="1"/>
          <p:nvPr/>
        </p:nvSpPr>
        <p:spPr>
          <a:xfrm>
            <a:off x="8550679" y="1211730"/>
            <a:ext cx="2784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Quản lý tài khoản người dùng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4637E4-1710-C8EB-5F6C-B42CC713BC5D}"/>
              </a:ext>
            </a:extLst>
          </p:cNvPr>
          <p:cNvSpPr txBox="1"/>
          <p:nvPr/>
        </p:nvSpPr>
        <p:spPr>
          <a:xfrm>
            <a:off x="8550678" y="1765222"/>
            <a:ext cx="2784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Theo dõi thống kê doanh thu, doanh số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B8156B-2742-7DCA-DE36-54B6BEB5B87F}"/>
              </a:ext>
            </a:extLst>
          </p:cNvPr>
          <p:cNvSpPr txBox="1"/>
          <p:nvPr/>
        </p:nvSpPr>
        <p:spPr>
          <a:xfrm>
            <a:off x="1429729" y="5640250"/>
            <a:ext cx="2671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rgbClr val="FFF2D7"/>
                </a:solidFill>
              </a:rPr>
              <a:t>Công nghệ sử dụng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7BD76BB-B320-F164-B711-0A4FD33A232A}"/>
              </a:ext>
            </a:extLst>
          </p:cNvPr>
          <p:cNvCxnSpPr>
            <a:cxnSpLocks/>
          </p:cNvCxnSpPr>
          <p:nvPr/>
        </p:nvCxnSpPr>
        <p:spPr>
          <a:xfrm flipH="1">
            <a:off x="500510" y="6040360"/>
            <a:ext cx="4530094" cy="0"/>
          </a:xfrm>
          <a:prstGeom prst="line">
            <a:avLst/>
          </a:prstGeom>
          <a:ln w="19050">
            <a:solidFill>
              <a:srgbClr val="FFF2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1C203AA5-0CF3-C6D0-5749-AFBA9FDF0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22" y="6348700"/>
            <a:ext cx="1039965" cy="1039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21068A7-BF4B-8C19-01E8-FD96DDF27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206" y="6348701"/>
            <a:ext cx="1545200" cy="103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56" descr="A logo of a dolphin&#10;&#10;AI-generated content may be incorrect.">
            <a:extLst>
              <a:ext uri="{FF2B5EF4-FFF2-40B4-BE49-F238E27FC236}">
                <a16:creationId xmlns:a16="http://schemas.microsoft.com/office/drawing/2014/main" id="{596807A6-5A68-5F9F-C3D0-022BA55F81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330" y="6348701"/>
            <a:ext cx="1052678" cy="1030134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30DD4315-3F8A-7FE9-FBE4-DD39094960CE}"/>
              </a:ext>
            </a:extLst>
          </p:cNvPr>
          <p:cNvSpPr txBox="1"/>
          <p:nvPr/>
        </p:nvSpPr>
        <p:spPr>
          <a:xfrm>
            <a:off x="6201803" y="4191024"/>
            <a:ext cx="1594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rgbClr val="FFF2D7"/>
                </a:solidFill>
              </a:rPr>
              <a:t>Hạn chế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150EBC-2AE3-FE1F-AD67-4FEEEE957CDA}"/>
              </a:ext>
            </a:extLst>
          </p:cNvPr>
          <p:cNvSpPr txBox="1"/>
          <p:nvPr/>
        </p:nvSpPr>
        <p:spPr>
          <a:xfrm>
            <a:off x="9053735" y="4191024"/>
            <a:ext cx="2430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rgbClr val="FFF2D7"/>
                </a:solidFill>
              </a:rPr>
              <a:t>Hướng phát triển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7169263-DC23-213D-2037-80FE6581562D}"/>
              </a:ext>
            </a:extLst>
          </p:cNvPr>
          <p:cNvCxnSpPr>
            <a:cxnSpLocks/>
          </p:cNvCxnSpPr>
          <p:nvPr/>
        </p:nvCxnSpPr>
        <p:spPr>
          <a:xfrm>
            <a:off x="8775478" y="4085663"/>
            <a:ext cx="31337" cy="3558054"/>
          </a:xfrm>
          <a:prstGeom prst="line">
            <a:avLst/>
          </a:prstGeom>
          <a:ln w="19050">
            <a:solidFill>
              <a:srgbClr val="FFF2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CE7CB00-213B-8228-0D86-CA4FF4A18052}"/>
              </a:ext>
            </a:extLst>
          </p:cNvPr>
          <p:cNvSpPr txBox="1"/>
          <p:nvPr/>
        </p:nvSpPr>
        <p:spPr>
          <a:xfrm>
            <a:off x="5599837" y="4926360"/>
            <a:ext cx="3098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Các chức năng báo cáo, phân tích kinh doanh chưa đầy đủ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0872F653-E850-F1EC-B319-9A2CA728F44C}"/>
              </a:ext>
            </a:extLst>
          </p:cNvPr>
          <p:cNvSpPr txBox="1"/>
          <p:nvPr/>
        </p:nvSpPr>
        <p:spPr>
          <a:xfrm>
            <a:off x="5599837" y="5757357"/>
            <a:ext cx="3111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Các tính năng hỗ trợ, tương tác với khách hàng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80280D1E-C463-D4B1-0A83-D5A37E3D4DEA}"/>
              </a:ext>
            </a:extLst>
          </p:cNvPr>
          <p:cNvSpPr txBox="1"/>
          <p:nvPr/>
        </p:nvSpPr>
        <p:spPr>
          <a:xfrm>
            <a:off x="5601202" y="6363034"/>
            <a:ext cx="317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Các loại sản phẩm còn hạn chế, chưa đa dạng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DA3D6318-5DA1-0E10-EBEC-37E087260C3E}"/>
              </a:ext>
            </a:extLst>
          </p:cNvPr>
          <p:cNvSpPr txBox="1"/>
          <p:nvPr/>
        </p:nvSpPr>
        <p:spPr>
          <a:xfrm>
            <a:off x="8854102" y="4925743"/>
            <a:ext cx="2912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Phát triển tính năng đặt bàn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4B55A99F-DF46-AC3B-95DF-925459EBE03E}"/>
              </a:ext>
            </a:extLst>
          </p:cNvPr>
          <p:cNvSpPr txBox="1"/>
          <p:nvPr/>
        </p:nvSpPr>
        <p:spPr>
          <a:xfrm>
            <a:off x="8846482" y="5477881"/>
            <a:ext cx="29198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Nâng cao các tính năng bảo mật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9D8B79CB-F715-87B9-7724-1D470B9E4E29}"/>
              </a:ext>
            </a:extLst>
          </p:cNvPr>
          <p:cNvSpPr txBox="1"/>
          <p:nvPr/>
        </p:nvSpPr>
        <p:spPr>
          <a:xfrm>
            <a:off x="8839738" y="6049744"/>
            <a:ext cx="29198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Tích hợp các tính năng AI vào hệ thống giúp tăng trải nghiệm khách hàng</a:t>
            </a:r>
          </a:p>
        </p:txBody>
      </p: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29FC2CD9-CBA3-182E-E34A-16F8BD984F33}"/>
              </a:ext>
            </a:extLst>
          </p:cNvPr>
          <p:cNvCxnSpPr>
            <a:cxnSpLocks/>
          </p:cNvCxnSpPr>
          <p:nvPr/>
        </p:nvCxnSpPr>
        <p:spPr>
          <a:xfrm flipH="1">
            <a:off x="5391303" y="4591134"/>
            <a:ext cx="6534885" cy="0"/>
          </a:xfrm>
          <a:prstGeom prst="line">
            <a:avLst/>
          </a:prstGeom>
          <a:ln w="19050">
            <a:solidFill>
              <a:srgbClr val="FFF2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TextBox 1037">
            <a:extLst>
              <a:ext uri="{FF2B5EF4-FFF2-40B4-BE49-F238E27FC236}">
                <a16:creationId xmlns:a16="http://schemas.microsoft.com/office/drawing/2014/main" id="{311DB512-C0F9-83F8-294F-22310752EB41}"/>
              </a:ext>
            </a:extLst>
          </p:cNvPr>
          <p:cNvSpPr txBox="1"/>
          <p:nvPr/>
        </p:nvSpPr>
        <p:spPr>
          <a:xfrm>
            <a:off x="2136405" y="8187008"/>
            <a:ext cx="2671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rgbClr val="FFF2D7"/>
                </a:solidFill>
              </a:rPr>
              <a:t>Kết quả đạt được</a:t>
            </a:r>
          </a:p>
        </p:txBody>
      </p: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3F63C455-12E8-4F9B-AFE0-C8487804ACD4}"/>
              </a:ext>
            </a:extLst>
          </p:cNvPr>
          <p:cNvCxnSpPr>
            <a:cxnSpLocks/>
          </p:cNvCxnSpPr>
          <p:nvPr/>
        </p:nvCxnSpPr>
        <p:spPr>
          <a:xfrm flipH="1">
            <a:off x="490231" y="8587118"/>
            <a:ext cx="6103401" cy="0"/>
          </a:xfrm>
          <a:prstGeom prst="line">
            <a:avLst/>
          </a:prstGeom>
          <a:ln w="19050">
            <a:solidFill>
              <a:srgbClr val="FFF2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B854B18D-9696-1886-F2AA-67EBB6754063}"/>
              </a:ext>
            </a:extLst>
          </p:cNvPr>
          <p:cNvSpPr txBox="1"/>
          <p:nvPr/>
        </p:nvSpPr>
        <p:spPr>
          <a:xfrm>
            <a:off x="675179" y="8709507"/>
            <a:ext cx="5597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Xây dựng thành công hệ thống website tiện ích, giúp cửa hàng bán hàng và quản lý một cách dễ dàng, hiệu quả 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13B1A8F6-98F5-5A25-6218-865914A0F909}"/>
              </a:ext>
            </a:extLst>
          </p:cNvPr>
          <p:cNvSpPr txBox="1"/>
          <p:nvPr/>
        </p:nvSpPr>
        <p:spPr>
          <a:xfrm>
            <a:off x="675179" y="9592737"/>
            <a:ext cx="55971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Giao diện người dùng đẹp mắt, dễ dàng sử dụng, kích thích tâm lý mua hàng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D6ECFEFE-347D-A9B8-C8CE-04A473EADB91}"/>
              </a:ext>
            </a:extLst>
          </p:cNvPr>
          <p:cNvSpPr txBox="1"/>
          <p:nvPr/>
        </p:nvSpPr>
        <p:spPr>
          <a:xfrm>
            <a:off x="675179" y="10248646"/>
            <a:ext cx="55971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b="1" dirty="0">
                <a:solidFill>
                  <a:srgbClr val="FFF2D7"/>
                </a:solidFill>
              </a:rPr>
              <a:t>Tích hợp các chức năng cho phép người dùng đánh giá sản phẩm, tăng trải nghiệm mua hàng</a:t>
            </a:r>
          </a:p>
        </p:txBody>
      </p:sp>
      <p:pic>
        <p:nvPicPr>
          <p:cNvPr id="1050" name="Picture 1049" descr="A screenshot of a pizza&#10;&#10;AI-generated content may be incorrect.">
            <a:extLst>
              <a:ext uri="{FF2B5EF4-FFF2-40B4-BE49-F238E27FC236}">
                <a16:creationId xmlns:a16="http://schemas.microsoft.com/office/drawing/2014/main" id="{60CAD087-550C-E1A1-CC82-6D281FAE15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8" r="16855"/>
          <a:stretch/>
        </p:blipFill>
        <p:spPr>
          <a:xfrm>
            <a:off x="490231" y="11642818"/>
            <a:ext cx="4826000" cy="2987457"/>
          </a:xfrm>
          <a:prstGeom prst="rect">
            <a:avLst/>
          </a:prstGeom>
        </p:spPr>
      </p:pic>
      <p:pic>
        <p:nvPicPr>
          <p:cNvPr id="1052" name="Picture 105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555077-556D-FED7-3D53-4631BA2F7E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89" t="25658" r="7700"/>
          <a:stretch/>
        </p:blipFill>
        <p:spPr>
          <a:xfrm>
            <a:off x="7084335" y="8020285"/>
            <a:ext cx="4926930" cy="3245967"/>
          </a:xfrm>
          <a:prstGeom prst="rect">
            <a:avLst/>
          </a:prstGeom>
        </p:spPr>
      </p:pic>
      <p:pic>
        <p:nvPicPr>
          <p:cNvPr id="1054" name="Picture 105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695D7B-AABD-03FD-AC9C-0EFA0BA79C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300" y="11642818"/>
            <a:ext cx="6336876" cy="2959807"/>
          </a:xfrm>
          <a:prstGeom prst="rect">
            <a:avLst/>
          </a:prstGeom>
        </p:spPr>
      </p:pic>
      <p:sp>
        <p:nvSpPr>
          <p:cNvPr id="1055" name="Rectangle 1054">
            <a:extLst>
              <a:ext uri="{FF2B5EF4-FFF2-40B4-BE49-F238E27FC236}">
                <a16:creationId xmlns:a16="http://schemas.microsoft.com/office/drawing/2014/main" id="{3266BA57-6F79-6470-FC41-B6110826C5B5}"/>
              </a:ext>
            </a:extLst>
          </p:cNvPr>
          <p:cNvSpPr/>
          <p:nvPr/>
        </p:nvSpPr>
        <p:spPr>
          <a:xfrm>
            <a:off x="0" y="14797346"/>
            <a:ext cx="12428430" cy="220353"/>
          </a:xfrm>
          <a:prstGeom prst="rect">
            <a:avLst/>
          </a:prstGeom>
          <a:solidFill>
            <a:srgbClr val="F98866"/>
          </a:solidFill>
          <a:ln>
            <a:solidFill>
              <a:srgbClr val="FFF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057" name="Picture 1056" descr="A logo on an orange background&#10;&#10;AI-generated content may be incorrect.">
            <a:extLst>
              <a:ext uri="{FF2B5EF4-FFF2-40B4-BE49-F238E27FC236}">
                <a16:creationId xmlns:a16="http://schemas.microsoft.com/office/drawing/2014/main" id="{C9137C74-8ECB-A257-B3F2-5351D31CB23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692" y="3725965"/>
            <a:ext cx="3060857" cy="1481455"/>
          </a:xfrm>
          <a:prstGeom prst="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AA0168A-991F-5BA2-1433-9D22AEA12CC3}"/>
              </a:ext>
            </a:extLst>
          </p:cNvPr>
          <p:cNvSpPr/>
          <p:nvPr/>
        </p:nvSpPr>
        <p:spPr>
          <a:xfrm>
            <a:off x="4274669" y="12542335"/>
            <a:ext cx="2229611" cy="690876"/>
          </a:xfrm>
          <a:prstGeom prst="roundRect">
            <a:avLst/>
          </a:prstGeom>
          <a:solidFill>
            <a:srgbClr val="F988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Một số giao diện</a:t>
            </a:r>
          </a:p>
        </p:txBody>
      </p:sp>
    </p:spTree>
    <p:extLst>
      <p:ext uri="{BB962C8B-B14F-4D97-AF65-F5344CB8AC3E}">
        <p14:creationId xmlns:p14="http://schemas.microsoft.com/office/powerpoint/2010/main" val="186588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264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(Body)</vt:lpstr>
      <vt:lpstr>Calibri</vt:lpstr>
      <vt:lpstr>Calibri Light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Xuan Nguyen Duc</cp:lastModifiedBy>
  <cp:revision>30</cp:revision>
  <dcterms:created xsi:type="dcterms:W3CDTF">2025-05-22T07:36:02Z</dcterms:created>
  <dcterms:modified xsi:type="dcterms:W3CDTF">2025-05-31T16:48:20Z</dcterms:modified>
</cp:coreProperties>
</file>